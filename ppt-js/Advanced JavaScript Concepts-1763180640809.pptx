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2" r:id="rId3"/>
    <p:sldId id="263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5" autoAdjust="0"/>
    <p:restoredTop sz="94660" autoAdjust="0"/>
  </p:normalViewPr>
  <p:slideViewPr>
    <p:cSldViewPr snapToGrid="0">
      <p:cViewPr varScale="1">
        <p:scale>
          <a:sx n="40" d="100"/>
          <a:sy n="40" d="100"/>
        </p:scale>
        <p:origin x="44" y="5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F5C5BD-8AB6-4E5F-8616-0B1D32D0FBF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3DD49AE-E876-4130-BF53-6229B9820536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  <a:endParaRPr lang="en-US"/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C0840E64-78EA-480E-9DFC-F5D183737F14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F379E8-AC6C-43B9-9222-BDF0AF9336F0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ED329652-6112-4F3D-B614-62B56A045E3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64E64D-1B50-4EC0-83A1-DE58B45AB49E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61A824-A4A3-4BDD-B7F1-293A0EC1EA54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1B1D06-1BCF-4BCB-9319-09267D16BB9F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361324-1C8A-40EA-A8C7-BACD05350B74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5BA78C1D-B8C9-43D1-BED3-AB201E145563}" type="datetime1">
              <a:rPr lang="en-US" smtClean="0"/>
              <a:t>11/11/2025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BFA2D3EE-FBE6-4434-A13B-BD4C1C612D44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56802B-70FA-41EA-BEAA-8B64D5BF142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12D428-74E3-499E-9255-6C7C463A82F6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Quarter level</a:t>
            </a:r>
          </a:p>
          <a:p>
            <a:pPr lvl="4" rtl="0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FF323AA-170C-4C76-B350-C21CF15222DA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r>
              <a:rPr lang="en-GB" sz="2800" i="1" dirty="0"/>
              <a:t>Advanced JavaScript Concepts: Closures, Currying, let vs var, and </a:t>
            </a:r>
            <a:r>
              <a:rPr lang="en-GB" sz="2800" i="1" dirty="0" err="1"/>
              <a:t>Memoization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22327-6DE4-8E5E-B97C-89F1083E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Closure?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2DE6C-5515-F93E-C743-F9FDB73A4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1" dirty="0"/>
              <a:t>Definition:</a:t>
            </a:r>
            <a:br>
              <a:rPr lang="en-GB" sz="2000" dirty="0"/>
            </a:br>
            <a:r>
              <a:rPr lang="en-GB" sz="2000" dirty="0"/>
              <a:t>A </a:t>
            </a:r>
            <a:r>
              <a:rPr lang="en-GB" sz="2000" b="1" dirty="0"/>
              <a:t>closure</a:t>
            </a:r>
            <a:r>
              <a:rPr lang="en-GB" sz="2000" dirty="0"/>
              <a:t> is created when a function remembers the variables from its </a:t>
            </a:r>
            <a:r>
              <a:rPr lang="en-GB" sz="2000" b="1" dirty="0"/>
              <a:t>lexical scope</a:t>
            </a:r>
            <a:r>
              <a:rPr lang="en-GB" sz="2000" dirty="0"/>
              <a:t>, even after the outer function has finished executing.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51286-FCA2-E61C-FE11-8C5512D1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70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E4AF-18C4-51F0-5E74-3D0885ADF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Closures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D87B5-9F1A-58E4-DADD-C592C4216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GB" sz="2400" b="1" dirty="0"/>
          </a:p>
          <a:p>
            <a:r>
              <a:rPr lang="en-GB" sz="2400" b="1" dirty="0"/>
              <a:t>Key points:</a:t>
            </a:r>
            <a:endParaRPr lang="en-GB" sz="2400" dirty="0"/>
          </a:p>
          <a:p>
            <a:r>
              <a:rPr lang="en-GB" sz="2400" dirty="0"/>
              <a:t>Every function in JS forms a </a:t>
            </a:r>
            <a:r>
              <a:rPr lang="en-GB" sz="2400" b="1" dirty="0"/>
              <a:t>closure</a:t>
            </a:r>
            <a:r>
              <a:rPr lang="en-GB" sz="2400" dirty="0"/>
              <a:t>.</a:t>
            </a:r>
          </a:p>
          <a:p>
            <a:r>
              <a:rPr lang="en-GB" sz="2400" dirty="0"/>
              <a:t>The </a:t>
            </a:r>
            <a:r>
              <a:rPr lang="en-GB" sz="2400" b="1" dirty="0"/>
              <a:t>inner function</a:t>
            </a:r>
            <a:r>
              <a:rPr lang="en-GB" sz="2400" dirty="0"/>
              <a:t> gets access to:</a:t>
            </a:r>
          </a:p>
          <a:p>
            <a:pPr lvl="1"/>
            <a:r>
              <a:rPr lang="en-GB" sz="2400" dirty="0"/>
              <a:t>Its own variables</a:t>
            </a:r>
          </a:p>
          <a:p>
            <a:pPr lvl="1"/>
            <a:r>
              <a:rPr lang="en-GB" sz="2400" dirty="0"/>
              <a:t>Outer function’s variables</a:t>
            </a:r>
          </a:p>
          <a:p>
            <a:pPr lvl="1"/>
            <a:r>
              <a:rPr lang="en-GB" sz="2400" dirty="0"/>
              <a:t>Global variables</a:t>
            </a:r>
          </a:p>
          <a:p>
            <a:r>
              <a:rPr lang="en-GB" sz="2400" b="1" dirty="0"/>
              <a:t>Diagram:</a:t>
            </a:r>
            <a:br>
              <a:rPr lang="en-GB" sz="2400" dirty="0"/>
            </a:br>
            <a:r>
              <a:rPr lang="en-GB" sz="2400" dirty="0"/>
              <a:t>Outer Function → Inner Function → Access to count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E1D34-E274-8337-3F68-CDC82920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2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C8765-E765-A032-F5E0-4D569FBD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 Currying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35941-7B2B-A239-DF91-67085F340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Definition:</a:t>
            </a:r>
            <a:br>
              <a:rPr lang="en-GB" sz="2400" dirty="0"/>
            </a:br>
            <a:r>
              <a:rPr lang="en-GB" sz="2400" dirty="0"/>
              <a:t>Currying transforms a function with multiple arguments into a sequence of functions that take </a:t>
            </a:r>
            <a:r>
              <a:rPr lang="en-GB" sz="2400" b="1" dirty="0"/>
              <a:t>one argument at a time</a:t>
            </a:r>
            <a:endParaRPr lang="en-GB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91D58-9D76-4343-2F0B-75D69A3D4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0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4E0A0-A071-9A3C-6F58-E5AA4A016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vs 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DFC98-54E7-972B-4288-F0D974DE2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400" b="1" dirty="0"/>
              <a:t>var (ES5)</a:t>
            </a:r>
            <a:endParaRPr lang="en-GB" sz="2400" dirty="0"/>
          </a:p>
          <a:p>
            <a:r>
              <a:rPr lang="en-GB" sz="2400" dirty="0"/>
              <a:t>Function-scoped</a:t>
            </a:r>
          </a:p>
          <a:p>
            <a:r>
              <a:rPr lang="en-GB" sz="2400" dirty="0"/>
              <a:t>Hoisted (initialized with undefined)</a:t>
            </a:r>
          </a:p>
          <a:p>
            <a:r>
              <a:rPr lang="en-GB" sz="2400" dirty="0"/>
              <a:t>Can be redeclared</a:t>
            </a:r>
          </a:p>
          <a:p>
            <a:r>
              <a:rPr lang="en-GB" sz="2400" b="1" dirty="0"/>
              <a:t>let (ES6)</a:t>
            </a:r>
            <a:endParaRPr lang="en-GB" sz="2400" dirty="0"/>
          </a:p>
          <a:p>
            <a:r>
              <a:rPr lang="en-GB" sz="2400" dirty="0"/>
              <a:t>Block-scoped</a:t>
            </a:r>
          </a:p>
          <a:p>
            <a:r>
              <a:rPr lang="en-GB" sz="2400" dirty="0"/>
              <a:t>Hoisted but </a:t>
            </a:r>
            <a:r>
              <a:rPr lang="en-GB" sz="2400" b="1" dirty="0"/>
              <a:t>not initialized</a:t>
            </a:r>
            <a:r>
              <a:rPr lang="en-GB" sz="2400" dirty="0"/>
              <a:t> (Temporal Dead Zone)</a:t>
            </a:r>
          </a:p>
          <a:p>
            <a:r>
              <a:rPr lang="en-GB" sz="2400" dirty="0"/>
              <a:t>Cannot be redeclared in the same scope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26DCE-304A-12FC-FBFA-CCB3866D4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0EA5-CB75-93D3-BA0A-F17B47AF7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Detailed let vs var Comparison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95766C-D41E-19A5-81AE-9C60C019AC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750243"/>
              </p:ext>
            </p:extLst>
          </p:nvPr>
        </p:nvGraphicFramePr>
        <p:xfrm>
          <a:off x="1066799" y="2014193"/>
          <a:ext cx="10724148" cy="3889300"/>
        </p:xfrm>
        <a:graphic>
          <a:graphicData uri="http://schemas.openxmlformats.org/drawingml/2006/table">
            <a:tbl>
              <a:tblPr/>
              <a:tblGrid>
                <a:gridCol w="3574716">
                  <a:extLst>
                    <a:ext uri="{9D8B030D-6E8A-4147-A177-3AD203B41FA5}">
                      <a16:colId xmlns:a16="http://schemas.microsoft.com/office/drawing/2014/main" val="101401355"/>
                    </a:ext>
                  </a:extLst>
                </a:gridCol>
                <a:gridCol w="3574716">
                  <a:extLst>
                    <a:ext uri="{9D8B030D-6E8A-4147-A177-3AD203B41FA5}">
                      <a16:colId xmlns:a16="http://schemas.microsoft.com/office/drawing/2014/main" val="419450927"/>
                    </a:ext>
                  </a:extLst>
                </a:gridCol>
                <a:gridCol w="3574716">
                  <a:extLst>
                    <a:ext uri="{9D8B030D-6E8A-4147-A177-3AD203B41FA5}">
                      <a16:colId xmlns:a16="http://schemas.microsoft.com/office/drawing/2014/main" val="1257575897"/>
                    </a:ext>
                  </a:extLst>
                </a:gridCol>
              </a:tblGrid>
              <a:tr h="501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var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let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940217"/>
                  </a:ext>
                </a:extLst>
              </a:tr>
              <a:tr h="501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538510"/>
                  </a:ext>
                </a:extLst>
              </a:tr>
              <a:tr h="878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Hoisting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Yes (initialized to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undefined</a:t>
                      </a:r>
                      <a:r>
                        <a:rPr lang="en-GB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Yes (but not initialized)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554921"/>
                  </a:ext>
                </a:extLst>
              </a:tr>
              <a:tr h="501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Redeclaration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Not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80508"/>
                  </a:ext>
                </a:extLst>
              </a:tr>
              <a:tr h="501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Reassignment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666977"/>
                  </a:ext>
                </a:extLst>
              </a:tr>
              <a:tr h="501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Temporal Dead Zone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793182"/>
                  </a:ext>
                </a:extLst>
              </a:tr>
              <a:tr h="501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Used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ES5 and earlier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ES6 and later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27308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39F98-CD68-1DFC-E85F-D9E02886C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58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1BAF-BE7B-B956-DF2B-48B7E8CE6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Memoization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800AA-7CC0-9CD8-16D8-09E34A1B0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Definition:</a:t>
            </a:r>
            <a:br>
              <a:rPr lang="en-GB" sz="2400" dirty="0"/>
            </a:br>
            <a:r>
              <a:rPr lang="en-GB" sz="2400" dirty="0" err="1"/>
              <a:t>Memoization</a:t>
            </a:r>
            <a:r>
              <a:rPr lang="en-GB" sz="2400" dirty="0"/>
              <a:t> is an </a:t>
            </a:r>
            <a:r>
              <a:rPr lang="en-GB" sz="2400" b="1" dirty="0"/>
              <a:t>optimization technique</a:t>
            </a:r>
            <a:r>
              <a:rPr lang="en-GB" sz="2400" dirty="0"/>
              <a:t> that stores the results of expensive function calls and returns the cached result when the same inputs occur again.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0657B-5F74-57E8-1335-6A68B886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34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7DC63-AE0C-B280-3D84-B0B8D3C7D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C7144-6F98-C06F-8B74-1EEC07AEA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Closures + Currying + </a:t>
            </a:r>
            <a:r>
              <a:rPr lang="en-GB" sz="2800" dirty="0" err="1"/>
              <a:t>Memoization</a:t>
            </a:r>
            <a:br>
              <a:rPr lang="en-GB" sz="2800" dirty="0"/>
            </a:br>
            <a:r>
              <a:rPr lang="en-GB" sz="2800" dirty="0"/>
              <a:t>→ All depend on </a:t>
            </a:r>
            <a:r>
              <a:rPr lang="en-GB" sz="2800" b="1" dirty="0"/>
              <a:t>function returning another function</a:t>
            </a:r>
            <a:br>
              <a:rPr lang="en-GB" sz="2800" dirty="0"/>
            </a:br>
            <a:r>
              <a:rPr lang="en-GB" sz="2800" dirty="0"/>
              <a:t>→ Helps write </a:t>
            </a:r>
            <a:r>
              <a:rPr lang="en-GB" sz="2800" b="1" dirty="0"/>
              <a:t>cleaner, efficient, and reusable</a:t>
            </a:r>
            <a:r>
              <a:rPr lang="en-GB" sz="2800" dirty="0"/>
              <a:t> code</a:t>
            </a:r>
          </a:p>
          <a:p>
            <a:r>
              <a:rPr lang="en-GB" sz="2800" b="1" dirty="0"/>
              <a:t>Example:</a:t>
            </a:r>
            <a:br>
              <a:rPr lang="en-GB" sz="2800" dirty="0"/>
            </a:br>
            <a:r>
              <a:rPr lang="en-GB" sz="2800" dirty="0" err="1"/>
              <a:t>Memoized</a:t>
            </a:r>
            <a:r>
              <a:rPr lang="en-GB" sz="2800" dirty="0"/>
              <a:t> sum using closure and currying.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F836-CD1E-EEA1-39C4-FAB34675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688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139_TF78438558" id="{0BED6512-3D0D-4F75-AB59-5444160ED234}" vid="{29214CBE-E8BC-4FF0-A7D0-03F1D5557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{3FF78C54-606D-46BC-A247-CBD4DCF10125}tf78438558_win32</Template>
  <TotalTime>13</TotalTime>
  <Words>268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Century Gothic</vt:lpstr>
      <vt:lpstr>Courier New</vt:lpstr>
      <vt:lpstr>Garamond</vt:lpstr>
      <vt:lpstr>SavonVTI</vt:lpstr>
      <vt:lpstr>Advanced JavaScript Concepts: Closures, Currying, let vs var, and Memoization</vt:lpstr>
      <vt:lpstr>What is a Closure?</vt:lpstr>
      <vt:lpstr>How Closures Work</vt:lpstr>
      <vt:lpstr>Function Currying</vt:lpstr>
      <vt:lpstr>let vs var</vt:lpstr>
      <vt:lpstr>Detailed let vs var Comparison</vt:lpstr>
      <vt:lpstr>Memoization</vt:lpstr>
      <vt:lpstr>Combining Concepts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2025-11-11T16:51:32Z</dcterms:created>
  <dcterms:modified xsi:type="dcterms:W3CDTF">2025-11-11T17:05:06Z</dcterms:modified>
</cp:coreProperties>
</file>